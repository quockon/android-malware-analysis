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301" r:id="rId4"/>
    <p:sldId id="304" r:id="rId5"/>
    <p:sldId id="306" r:id="rId6"/>
    <p:sldId id="303" r:id="rId7"/>
    <p:sldId id="305" r:id="rId8"/>
    <p:sldId id="258" r:id="rId9"/>
    <p:sldId id="300" r:id="rId10"/>
    <p:sldId id="266" r:id="rId11"/>
    <p:sldId id="302" r:id="rId12"/>
    <p:sldId id="260" r:id="rId13"/>
    <p:sldId id="278" r:id="rId1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Fira Code" panose="020B0809050000020004" pitchFamily="49" charset="0"/>
      <p:regular r:id="rId20"/>
      <p:bold r:id="rId21"/>
    </p:embeddedFont>
    <p:embeddedFont>
      <p:font typeface="Montserrat" panose="00000500000000000000" pitchFamily="2" charset="-93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F8CDC5-75F7-460B-9763-E054AEDD9EAC}">
  <a:tblStyle styleId="{00F8CDC5-75F7-460B-9763-E054AEDD9E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14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708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5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434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6350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490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e7b3cc9d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e7b3cc9d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404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8" r:id="rId6"/>
    <p:sldLayoutId id="2147483669" r:id="rId7"/>
    <p:sldLayoutId id="2147483670" r:id="rId8"/>
    <p:sldLayoutId id="214748367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4" y="1144250"/>
            <a:ext cx="7527276" cy="846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Programming </a:t>
            </a:r>
            <a:r>
              <a:rPr lang="en" dirty="0">
                <a:solidFill>
                  <a:schemeClr val="accent2"/>
                </a:solidFill>
              </a:rPr>
              <a:t>‘</a:t>
            </a:r>
            <a:r>
              <a:rPr lang="en-US" dirty="0">
                <a:solidFill>
                  <a:schemeClr val="accent2"/>
                </a:solidFill>
              </a:rPr>
              <a:t>Malware Android detection using machine learning</a:t>
            </a:r>
            <a:r>
              <a:rPr lang="en" dirty="0">
                <a:solidFill>
                  <a:schemeClr val="accent2"/>
                </a:solidFill>
              </a:rPr>
              <a:t>’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80025" y="3139381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.apk – Androguard – FCG – doc2vec – GTN - RF &gt;</a:t>
            </a:r>
            <a:endParaRPr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850141" y="2456125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GROUP </a:t>
            </a:r>
            <a:r>
              <a:rPr lang="en" dirty="0">
                <a:solidFill>
                  <a:schemeClr val="lt2"/>
                </a:solidFill>
              </a:rPr>
              <a:t>1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2411306"/>
            <a:ext cx="333995" cy="2018454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forbeginners.html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" name="Google Shape;458;p27">
            <a:extLst>
              <a:ext uri="{FF2B5EF4-FFF2-40B4-BE49-F238E27FC236}">
                <a16:creationId xmlns:a16="http://schemas.microsoft.com/office/drawing/2014/main" id="{F363E96D-4545-9938-24E5-465B630B6A39}"/>
              </a:ext>
            </a:extLst>
          </p:cNvPr>
          <p:cNvSpPr txBox="1">
            <a:spLocks/>
          </p:cNvSpPr>
          <p:nvPr/>
        </p:nvSpPr>
        <p:spPr>
          <a:xfrm>
            <a:off x="1406751" y="865732"/>
            <a:ext cx="6147544" cy="4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vi-VN" dirty="0" err="1"/>
              <a:t>Architecture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‘</a:t>
            </a:r>
            <a:r>
              <a:rPr lang="en-US" sz="2000" dirty="0">
                <a:solidFill>
                  <a:schemeClr val="accent2"/>
                </a:solidFill>
              </a:rPr>
              <a:t>Malware Android detection using machine learning’ </a:t>
            </a:r>
            <a:r>
              <a:rPr lang="en-US" sz="2000" dirty="0">
                <a:solidFill>
                  <a:schemeClr val="accent3"/>
                </a:solidFill>
              </a:rPr>
              <a:t>{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D9D85-9D11-C769-DE8F-4599F19EA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45" y="1855893"/>
            <a:ext cx="6470584" cy="23012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" name="Google Shape;458;p27">
            <a:extLst>
              <a:ext uri="{FF2B5EF4-FFF2-40B4-BE49-F238E27FC236}">
                <a16:creationId xmlns:a16="http://schemas.microsoft.com/office/drawing/2014/main" id="{F363E96D-4545-9938-24E5-465B630B6A39}"/>
              </a:ext>
            </a:extLst>
          </p:cNvPr>
          <p:cNvSpPr txBox="1">
            <a:spLocks/>
          </p:cNvSpPr>
          <p:nvPr/>
        </p:nvSpPr>
        <p:spPr>
          <a:xfrm>
            <a:off x="1413524" y="821153"/>
            <a:ext cx="6147544" cy="4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vi-VN" dirty="0"/>
              <a:t>Tải APK thực nghiệm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{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2050" name="Picture 2" descr="Không có mô tả.">
            <a:extLst>
              <a:ext uri="{FF2B5EF4-FFF2-40B4-BE49-F238E27FC236}">
                <a16:creationId xmlns:a16="http://schemas.microsoft.com/office/drawing/2014/main" id="{6C955FE3-52FD-E1AC-AEB0-CB7CE7792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524" y="1627328"/>
            <a:ext cx="6966795" cy="224253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10192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245051" y="1202436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framework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endParaRPr dirty="0">
              <a:solidFill>
                <a:schemeClr val="accent6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3" name="Google Shape;513;p31"/>
          <p:cNvSpPr txBox="1">
            <a:spLocks noGrp="1"/>
          </p:cNvSpPr>
          <p:nvPr>
            <p:ph type="subTitle" idx="1"/>
          </p:nvPr>
        </p:nvSpPr>
        <p:spPr>
          <a:xfrm>
            <a:off x="2245051" y="2109004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cụ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thư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viện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tĩnh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Android</a:t>
            </a:r>
            <a:endParaRPr dirty="0"/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Androguard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516" name="Google Shape;516;p31"/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/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1719637" y="2383662"/>
            <a:ext cx="320088" cy="260682"/>
            <a:chOff x="5899913" y="4248925"/>
            <a:chExt cx="639025" cy="524300"/>
          </a:xfrm>
        </p:grpSpPr>
        <p:sp>
          <p:nvSpPr>
            <p:cNvPr id="533" name="Google Shape;533;p31"/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/>
          <p:cNvGrpSpPr/>
          <p:nvPr/>
        </p:nvGrpSpPr>
        <p:grpSpPr>
          <a:xfrm>
            <a:off x="1623181" y="2300698"/>
            <a:ext cx="506092" cy="426611"/>
            <a:chOff x="1665363" y="1706700"/>
            <a:chExt cx="578325" cy="487500"/>
          </a:xfrm>
        </p:grpSpPr>
        <p:sp>
          <p:nvSpPr>
            <p:cNvPr id="549" name="Google Shape;549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31"/>
          <p:cNvGrpSpPr/>
          <p:nvPr/>
        </p:nvGrpSpPr>
        <p:grpSpPr>
          <a:xfrm>
            <a:off x="1084825" y="1202436"/>
            <a:ext cx="506100" cy="2209709"/>
            <a:chOff x="1084825" y="1202436"/>
            <a:chExt cx="506100" cy="3367589"/>
          </a:xfrm>
        </p:grpSpPr>
        <p:cxnSp>
          <p:nvCxnSpPr>
            <p:cNvPr id="552" name="Google Shape;552;p31"/>
            <p:cNvCxnSpPr>
              <a:cxnSpLocks/>
            </p:cNvCxnSpPr>
            <p:nvPr/>
          </p:nvCxnSpPr>
          <p:spPr>
            <a:xfrm>
              <a:off x="1337875" y="1202436"/>
              <a:ext cx="0" cy="2732427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Androguard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" name="Google Shape;635;p34">
            <a:extLst>
              <a:ext uri="{FF2B5EF4-FFF2-40B4-BE49-F238E27FC236}">
                <a16:creationId xmlns:a16="http://schemas.microsoft.com/office/drawing/2014/main" id="{3E6800A4-8108-6B9A-727B-47C75349CDD1}"/>
              </a:ext>
            </a:extLst>
          </p:cNvPr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" name="Google Shape;636;p34">
            <a:extLst>
              <a:ext uri="{FF2B5EF4-FFF2-40B4-BE49-F238E27FC236}">
                <a16:creationId xmlns:a16="http://schemas.microsoft.com/office/drawing/2014/main" id="{047CEF18-0A85-1339-5EF8-C844FBE8D85D}"/>
              </a:ext>
            </a:extLst>
          </p:cNvPr>
          <p:cNvSpPr txBox="1"/>
          <p:nvPr/>
        </p:nvSpPr>
        <p:spPr>
          <a:xfrm>
            <a:off x="1630375" y="126147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01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Google Shape;637;p34">
            <a:extLst>
              <a:ext uri="{FF2B5EF4-FFF2-40B4-BE49-F238E27FC236}">
                <a16:creationId xmlns:a16="http://schemas.microsoft.com/office/drawing/2014/main" id="{1377199E-516A-82A1-D2AD-99442C0BE839}"/>
              </a:ext>
            </a:extLst>
          </p:cNvPr>
          <p:cNvSpPr txBox="1"/>
          <p:nvPr/>
        </p:nvSpPr>
        <p:spPr>
          <a:xfrm>
            <a:off x="2131375" y="1273259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Phân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tích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tĩnh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(static analysis)</a:t>
            </a:r>
            <a:endParaRPr sz="12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" name="Google Shape;638;p34">
            <a:extLst>
              <a:ext uri="{FF2B5EF4-FFF2-40B4-BE49-F238E27FC236}">
                <a16:creationId xmlns:a16="http://schemas.microsoft.com/office/drawing/2014/main" id="{E70EC820-E1C8-A98F-152E-6636ECB7BE26}"/>
              </a:ext>
            </a:extLst>
          </p:cNvPr>
          <p:cNvSpPr txBox="1"/>
          <p:nvPr/>
        </p:nvSpPr>
        <p:spPr>
          <a:xfrm>
            <a:off x="2068425" y="198400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02</a:t>
            </a:r>
            <a:endParaRPr sz="20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" name="Google Shape;639;p34">
            <a:extLst>
              <a:ext uri="{FF2B5EF4-FFF2-40B4-BE49-F238E27FC236}">
                <a16:creationId xmlns:a16="http://schemas.microsoft.com/office/drawing/2014/main" id="{A7A3BB43-C341-08CE-1FAA-2ACCAE1FD2AE}"/>
              </a:ext>
            </a:extLst>
          </p:cNvPr>
          <p:cNvSpPr txBox="1"/>
          <p:nvPr/>
        </p:nvSpPr>
        <p:spPr>
          <a:xfrm>
            <a:off x="2575375" y="2004611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Phân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tích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động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(dynamic analysis) </a:t>
            </a:r>
            <a:endParaRPr sz="12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" name="Google Shape;640;p34">
            <a:extLst>
              <a:ext uri="{FF2B5EF4-FFF2-40B4-BE49-F238E27FC236}">
                <a16:creationId xmlns:a16="http://schemas.microsoft.com/office/drawing/2014/main" id="{FB77736C-DABD-E99A-4C99-97C8D70436B5}"/>
              </a:ext>
            </a:extLst>
          </p:cNvPr>
          <p:cNvSpPr txBox="1"/>
          <p:nvPr/>
        </p:nvSpPr>
        <p:spPr>
          <a:xfrm>
            <a:off x="2505725" y="270655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03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" name="Google Shape;641;p34">
            <a:extLst>
              <a:ext uri="{FF2B5EF4-FFF2-40B4-BE49-F238E27FC236}">
                <a16:creationId xmlns:a16="http://schemas.microsoft.com/office/drawing/2014/main" id="{33E8E33B-1D9E-EBD7-3790-CA01D322FFD1}"/>
              </a:ext>
            </a:extLst>
          </p:cNvPr>
          <p:cNvSpPr txBox="1"/>
          <p:nvPr/>
        </p:nvSpPr>
        <p:spPr>
          <a:xfrm>
            <a:off x="2977424" y="2714176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Tìm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kiếm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mã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độc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(malware detection) </a:t>
            </a:r>
            <a:endParaRPr sz="12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" name="Google Shape;642;p34">
            <a:extLst>
              <a:ext uri="{FF2B5EF4-FFF2-40B4-BE49-F238E27FC236}">
                <a16:creationId xmlns:a16="http://schemas.microsoft.com/office/drawing/2014/main" id="{253CF5F9-0126-B04F-B7F5-AAC3ADCA3E58}"/>
              </a:ext>
            </a:extLst>
          </p:cNvPr>
          <p:cNvSpPr txBox="1"/>
          <p:nvPr/>
        </p:nvSpPr>
        <p:spPr>
          <a:xfrm>
            <a:off x="2924775" y="342912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04</a:t>
            </a:r>
            <a:endParaRPr sz="20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" name="Google Shape;643;p34">
            <a:extLst>
              <a:ext uri="{FF2B5EF4-FFF2-40B4-BE49-F238E27FC236}">
                <a16:creationId xmlns:a16="http://schemas.microsoft.com/office/drawing/2014/main" id="{3325061A-66BA-932B-5433-1601DB0F6FEC}"/>
              </a:ext>
            </a:extLst>
          </p:cNvPr>
          <p:cNvSpPr txBox="1"/>
          <p:nvPr/>
        </p:nvSpPr>
        <p:spPr>
          <a:xfrm>
            <a:off x="3362925" y="3429125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Tích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hợp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và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mở</a:t>
            </a:r>
            <a:r>
              <a:rPr lang="en-US" sz="16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rộng</a:t>
            </a:r>
            <a:endParaRPr sz="12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15" name="Google Shape;647;p34">
            <a:extLst>
              <a:ext uri="{FF2B5EF4-FFF2-40B4-BE49-F238E27FC236}">
                <a16:creationId xmlns:a16="http://schemas.microsoft.com/office/drawing/2014/main" id="{A44985AA-30A8-E73A-F6E6-2A165CDFA3DB}"/>
              </a:ext>
            </a:extLst>
          </p:cNvPr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648;p34">
            <a:extLst>
              <a:ext uri="{FF2B5EF4-FFF2-40B4-BE49-F238E27FC236}">
                <a16:creationId xmlns:a16="http://schemas.microsoft.com/office/drawing/2014/main" id="{6EFBCBE8-0140-450A-A709-41A4F63DB970}"/>
              </a:ext>
            </a:extLst>
          </p:cNvPr>
          <p:cNvCxnSpPr>
            <a:endCxn id="7" idx="1"/>
          </p:cNvCxnSpPr>
          <p:nvPr/>
        </p:nvCxnSpPr>
        <p:spPr>
          <a:xfrm>
            <a:off x="1337875" y="1553675"/>
            <a:ext cx="292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650;p34">
            <a:extLst>
              <a:ext uri="{FF2B5EF4-FFF2-40B4-BE49-F238E27FC236}">
                <a16:creationId xmlns:a16="http://schemas.microsoft.com/office/drawing/2014/main" id="{E6BADF43-D504-352A-829D-EEDAEEA87C6D}"/>
              </a:ext>
            </a:extLst>
          </p:cNvPr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651;p34">
            <a:extLst>
              <a:ext uri="{FF2B5EF4-FFF2-40B4-BE49-F238E27FC236}">
                <a16:creationId xmlns:a16="http://schemas.microsoft.com/office/drawing/2014/main" id="{0AD4BA93-1B69-A708-4395-2E6E8DC4DB12}"/>
              </a:ext>
            </a:extLst>
          </p:cNvPr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" name="Google Shape;652;p34">
            <a:extLst>
              <a:ext uri="{FF2B5EF4-FFF2-40B4-BE49-F238E27FC236}">
                <a16:creationId xmlns:a16="http://schemas.microsoft.com/office/drawing/2014/main" id="{77D329BF-2E3E-8EE5-0CBE-6D2A79230F90}"/>
              </a:ext>
            </a:extLst>
          </p:cNvPr>
          <p:cNvCxnSpPr/>
          <p:nvPr/>
        </p:nvCxnSpPr>
        <p:spPr>
          <a:xfrm>
            <a:off x="1337875" y="299876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653;p34">
            <a:extLst>
              <a:ext uri="{FF2B5EF4-FFF2-40B4-BE49-F238E27FC236}">
                <a16:creationId xmlns:a16="http://schemas.microsoft.com/office/drawing/2014/main" id="{F3B51749-62DA-EC5A-6846-64C316302D76}"/>
              </a:ext>
            </a:extLst>
          </p:cNvPr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654;p34">
            <a:extLst>
              <a:ext uri="{FF2B5EF4-FFF2-40B4-BE49-F238E27FC236}">
                <a16:creationId xmlns:a16="http://schemas.microsoft.com/office/drawing/2014/main" id="{94DF9ACB-A1EA-5F2A-6B45-3619B55ADF47}"/>
              </a:ext>
            </a:extLst>
          </p:cNvPr>
          <p:cNvCxnSpPr/>
          <p:nvPr/>
        </p:nvCxnSpPr>
        <p:spPr>
          <a:xfrm>
            <a:off x="1337875" y="3721325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655;p34">
            <a:extLst>
              <a:ext uri="{FF2B5EF4-FFF2-40B4-BE49-F238E27FC236}">
                <a16:creationId xmlns:a16="http://schemas.microsoft.com/office/drawing/2014/main" id="{6C95BE6B-F112-BB4A-1DC3-080ECD1006D4}"/>
              </a:ext>
            </a:extLst>
          </p:cNvPr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34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28748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1460450" y="1921761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1659549" y="2371278"/>
            <a:ext cx="80386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Code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Androguard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A0C07FB-16CB-9C41-6AD4-64D55AB529FC}"/>
              </a:ext>
            </a:extLst>
          </p:cNvPr>
          <p:cNvGrpSpPr/>
          <p:nvPr/>
        </p:nvGrpSpPr>
        <p:grpSpPr>
          <a:xfrm>
            <a:off x="2311840" y="1921761"/>
            <a:ext cx="3523695" cy="1998956"/>
            <a:chOff x="2095420" y="2291563"/>
            <a:chExt cx="4575413" cy="286149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FA5703-26B9-DF87-98F3-C3B3E864F03F}"/>
                </a:ext>
              </a:extLst>
            </p:cNvPr>
            <p:cNvSpPr txBox="1"/>
            <p:nvPr/>
          </p:nvSpPr>
          <p:spPr>
            <a:xfrm>
              <a:off x="2095420" y="2291563"/>
              <a:ext cx="4575413" cy="600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androguard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misc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AnalyzeAPK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b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dx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AnalyzeAPK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'</a:t>
              </a:r>
              <a:r>
                <a:rPr lang="vi-VN" sz="11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apk_test.apk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'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29225-3090-FE7B-29B1-4685BDB7F75B}"/>
                </a:ext>
              </a:extLst>
            </p:cNvPr>
            <p:cNvSpPr txBox="1"/>
            <p:nvPr/>
          </p:nvSpPr>
          <p:spPr>
            <a:xfrm>
              <a:off x="2096636" y="3029403"/>
              <a:ext cx="4148977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1100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hiển thị các </a:t>
              </a:r>
              <a:r>
                <a:rPr lang="vi-VN" sz="1100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permission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"Các </a:t>
              </a:r>
              <a:r>
                <a:rPr lang="vi-VN" sz="11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permission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 trong APK:"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get_permissions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():</a:t>
              </a:r>
            </a:p>
            <a:p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b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vi-VN" sz="1100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hiển thị các lớp 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dx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get_classes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():</a:t>
              </a:r>
            </a:p>
            <a:p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b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vi-VN" sz="1100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hiển thị các </a:t>
              </a:r>
              <a:r>
                <a:rPr lang="vi-VN" sz="1100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method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dx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get_methods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():</a:t>
              </a:r>
            </a:p>
            <a:p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452BAAB-6C93-6BA0-797C-F928F21D9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98" y="2198771"/>
            <a:ext cx="3639054" cy="11462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F0B005-025D-2C39-820C-2812019A9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057" y="3440386"/>
            <a:ext cx="3499640" cy="9794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F281D4-B0B1-520A-027F-AFD28D213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550" y="1149626"/>
            <a:ext cx="4287665" cy="52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09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Androguard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551" name="Google Shape;551;p31"/>
          <p:cNvGrpSpPr/>
          <p:nvPr/>
        </p:nvGrpSpPr>
        <p:grpSpPr>
          <a:xfrm>
            <a:off x="1084825" y="1202436"/>
            <a:ext cx="506100" cy="3152817"/>
            <a:chOff x="1084825" y="1202436"/>
            <a:chExt cx="506100" cy="3367589"/>
          </a:xfrm>
        </p:grpSpPr>
        <p:cxnSp>
          <p:nvCxnSpPr>
            <p:cNvPr id="552" name="Google Shape;552;p31"/>
            <p:cNvCxnSpPr>
              <a:cxnSpLocks/>
            </p:cNvCxnSpPr>
            <p:nvPr/>
          </p:nvCxnSpPr>
          <p:spPr>
            <a:xfrm>
              <a:off x="1337875" y="1202436"/>
              <a:ext cx="0" cy="2732427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50D7B12-92C5-E60E-CCC9-2D881F3BB3F3}"/>
              </a:ext>
            </a:extLst>
          </p:cNvPr>
          <p:cNvSpPr txBox="1"/>
          <p:nvPr/>
        </p:nvSpPr>
        <p:spPr>
          <a:xfrm>
            <a:off x="1590925" y="1370021"/>
            <a:ext cx="5699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Gói</a:t>
            </a:r>
            <a:r>
              <a:rPr lang="en-US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"</a:t>
            </a:r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androguard.misc</a:t>
            </a:r>
            <a:r>
              <a:rPr lang="en-US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" </a:t>
            </a:r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là</a:t>
            </a:r>
            <a:r>
              <a:rPr lang="en-US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một</a:t>
            </a:r>
            <a:r>
              <a:rPr lang="en-US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phần</a:t>
            </a:r>
            <a:r>
              <a:rPr lang="en-US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của</a:t>
            </a:r>
            <a:r>
              <a:rPr lang="en-US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framework </a:t>
            </a:r>
            <a:r>
              <a:rPr lang="en-US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Androguard</a:t>
            </a:r>
            <a:endParaRPr lang="vi-VN" dirty="0">
              <a:solidFill>
                <a:schemeClr val="accent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2FE24-853B-85F2-482F-388EE1E0CFBE}"/>
              </a:ext>
            </a:extLst>
          </p:cNvPr>
          <p:cNvSpPr txBox="1"/>
          <p:nvPr/>
        </p:nvSpPr>
        <p:spPr>
          <a:xfrm>
            <a:off x="1590925" y="1811526"/>
            <a:ext cx="5359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Gói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này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chứa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chức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năng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công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cụ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hỗ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trợ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phụ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trợ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cho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việc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phân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tích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tĩnh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động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ứng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Android.</a:t>
            </a:r>
            <a:endParaRPr lang="vi-VN" sz="1400" dirty="0">
              <a:solidFill>
                <a:schemeClr val="accent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Google Shape;485;p29">
            <a:extLst>
              <a:ext uri="{FF2B5EF4-FFF2-40B4-BE49-F238E27FC236}">
                <a16:creationId xmlns:a16="http://schemas.microsoft.com/office/drawing/2014/main" id="{44AAE3C7-9EB7-19E8-5004-E4033968676C}"/>
              </a:ext>
            </a:extLst>
          </p:cNvPr>
          <p:cNvSpPr txBox="1">
            <a:spLocks/>
          </p:cNvSpPr>
          <p:nvPr/>
        </p:nvSpPr>
        <p:spPr>
          <a:xfrm>
            <a:off x="1590925" y="2757540"/>
            <a:ext cx="4340457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1800" b="0" i="0" u="none" strike="noStrike" cap="none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vi-VN" sz="1400" dirty="0" err="1"/>
              <a:t>Androguard.misc.AnalyzeAPK</a:t>
            </a:r>
            <a:endParaRPr lang="vi-VN" sz="1400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9E9E843-175D-1B0B-1649-6970ADC78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930" y="3075799"/>
            <a:ext cx="535939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là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một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chức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năng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để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phân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tích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tĩnh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một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file APK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và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trả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về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một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đối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tượng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r>
              <a:rPr kumimoji="0" lang="en-US" altLang="vi-VN" sz="10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APK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của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Androguard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Đối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tượng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này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cung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cấp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nhiều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phương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thức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để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truy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cập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các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thành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phần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của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ứng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dụng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như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quyền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truy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cập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thành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phần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tệp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tài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nguyên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mã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nguồn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Smali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và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nhiều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thông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tin </a:t>
            </a:r>
            <a:r>
              <a:rPr kumimoji="0" lang="en-US" altLang="vi-VN" sz="130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khác</a:t>
            </a:r>
            <a:r>
              <a:rPr kumimoji="0" lang="en-US" altLang="vi-VN" sz="13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endParaRPr kumimoji="0" lang="en-US" altLang="vi-VN" sz="180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10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28748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1460450" y="1921761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1622158" y="2282554"/>
            <a:ext cx="80386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Code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Androguard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A0C07FB-16CB-9C41-6AD4-64D55AB529FC}"/>
              </a:ext>
            </a:extLst>
          </p:cNvPr>
          <p:cNvGrpSpPr/>
          <p:nvPr/>
        </p:nvGrpSpPr>
        <p:grpSpPr>
          <a:xfrm>
            <a:off x="2311840" y="1921761"/>
            <a:ext cx="3523695" cy="1998956"/>
            <a:chOff x="2095420" y="2291563"/>
            <a:chExt cx="4575413" cy="286149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FA5703-26B9-DF87-98F3-C3B3E864F03F}"/>
                </a:ext>
              </a:extLst>
            </p:cNvPr>
            <p:cNvSpPr txBox="1"/>
            <p:nvPr/>
          </p:nvSpPr>
          <p:spPr>
            <a:xfrm>
              <a:off x="2095420" y="2291563"/>
              <a:ext cx="4575413" cy="600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androguard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misc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AnalyzeAPK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b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dx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AnalyzeAPK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'</a:t>
              </a:r>
              <a:r>
                <a:rPr lang="vi-VN" sz="11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apk_test.apk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'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29225-3090-FE7B-29B1-4685BDB7F75B}"/>
                </a:ext>
              </a:extLst>
            </p:cNvPr>
            <p:cNvSpPr txBox="1"/>
            <p:nvPr/>
          </p:nvSpPr>
          <p:spPr>
            <a:xfrm>
              <a:off x="2096636" y="3029403"/>
              <a:ext cx="4148977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1100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hiển thị các </a:t>
              </a:r>
              <a:r>
                <a:rPr lang="vi-VN" sz="1100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permission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"Các </a:t>
              </a:r>
              <a:r>
                <a:rPr lang="vi-VN" sz="11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permission</a:t>
              </a:r>
              <a:r>
                <a:rPr lang="vi-VN" sz="11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 trong APK:"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get_permissions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():</a:t>
              </a:r>
            </a:p>
            <a:p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b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vi-VN" sz="1100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hiển thị các lớp 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dx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get_classes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():</a:t>
              </a:r>
            </a:p>
            <a:p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b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vi-VN" sz="1100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hiển thị các </a:t>
              </a:r>
              <a:r>
                <a:rPr lang="vi-VN" sz="1100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method</a:t>
              </a:r>
              <a:endPara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vi-VN" sz="1100" b="0" dirty="0" err="1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vi-VN" sz="11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dx</a:t>
              </a:r>
              <a:r>
                <a:rPr lang="vi-VN" sz="11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get_methods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():</a:t>
              </a:r>
            </a:p>
            <a:p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vi-VN" sz="11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vi-VN" sz="11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vi-VN" sz="11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452BAAB-6C93-6BA0-797C-F928F21D9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15" y="2127092"/>
            <a:ext cx="3639054" cy="11462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F0B005-025D-2C39-820C-2812019A9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057" y="3440386"/>
            <a:ext cx="3499640" cy="9794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F281D4-B0B1-520A-027F-AFD28D213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550" y="1149626"/>
            <a:ext cx="4287665" cy="524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195091" y="1154340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4507176" y="628588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2368875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FCG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947747" y="1159725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E1329-5B6F-A046-0EE8-A9C387B58E9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195091" y="2093290"/>
            <a:ext cx="3124425" cy="338400"/>
          </a:xfrm>
        </p:spPr>
        <p:txBody>
          <a:bodyPr/>
          <a:lstStyle/>
          <a:p>
            <a:r>
              <a:rPr lang="vi-V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Đường dẫn đến </a:t>
            </a:r>
            <a:r>
              <a:rPr lang="vi-VN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vi-V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APK</a:t>
            </a:r>
            <a:endParaRPr lang="vi-VN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apk_path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vi-V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vi-V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vi-V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getcwd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vi-V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vi-VN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apk_test.apk</a:t>
            </a:r>
            <a:r>
              <a:rPr lang="vi-V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phân tích APK</a:t>
            </a:r>
            <a:endParaRPr lang="vi-VN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AnalyzeAPK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apk_path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tạo đồ thị FCG</a:t>
            </a:r>
            <a:endParaRPr lang="vi-VN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get_call_graph</a:t>
            </a:r>
            <a:r>
              <a:rPr lang="vi-V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vi-VN" sz="1100" dirty="0"/>
          </a:p>
        </p:txBody>
      </p:sp>
      <p:pic>
        <p:nvPicPr>
          <p:cNvPr id="1032" name="Picture 8" descr="Không có mô tả.">
            <a:extLst>
              <a:ext uri="{FF2B5EF4-FFF2-40B4-BE49-F238E27FC236}">
                <a16:creationId xmlns:a16="http://schemas.microsoft.com/office/drawing/2014/main" id="{1CA35029-D49A-B5F4-45AB-CE907963F9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5"/>
          <a:stretch/>
        </p:blipFill>
        <p:spPr bwMode="auto">
          <a:xfrm>
            <a:off x="4943226" y="3856873"/>
            <a:ext cx="3954314" cy="59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D89813-D78C-02EC-819D-E931F46550BF}"/>
              </a:ext>
            </a:extLst>
          </p:cNvPr>
          <p:cNvSpPr txBox="1"/>
          <p:nvPr/>
        </p:nvSpPr>
        <p:spPr>
          <a:xfrm>
            <a:off x="4817773" y="1007377"/>
            <a:ext cx="4925135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Tạo danh sách kề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adjacency_list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r>
              <a:rPr lang="vi-VN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adjacency_list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Xuất danh sách kề ra </a:t>
            </a:r>
            <a:r>
              <a:rPr lang="vi-VN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console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adjacency_list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 ra các đỉnh và các cạnh 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vẽ đồ thị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draw_networkx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with_labels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node_size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vi-V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D0A9B6-D506-3F17-DB33-13D13FED6C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855" b="18103"/>
          <a:stretch/>
        </p:blipFill>
        <p:spPr>
          <a:xfrm>
            <a:off x="1579300" y="2934741"/>
            <a:ext cx="2031812" cy="1626059"/>
          </a:xfrm>
          <a:prstGeom prst="rect">
            <a:avLst/>
          </a:prstGeom>
        </p:spPr>
      </p:pic>
      <p:cxnSp>
        <p:nvCxnSpPr>
          <p:cNvPr id="13" name="Google Shape;492;p29">
            <a:extLst>
              <a:ext uri="{FF2B5EF4-FFF2-40B4-BE49-F238E27FC236}">
                <a16:creationId xmlns:a16="http://schemas.microsoft.com/office/drawing/2014/main" id="{8909BCDD-24AE-042A-23F2-83FB024713AA}"/>
              </a:ext>
            </a:extLst>
          </p:cNvPr>
          <p:cNvCxnSpPr>
            <a:cxnSpLocks/>
          </p:cNvCxnSpPr>
          <p:nvPr/>
        </p:nvCxnSpPr>
        <p:spPr>
          <a:xfrm>
            <a:off x="4224195" y="805629"/>
            <a:ext cx="0" cy="3532241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79649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887525" y="1848170"/>
            <a:ext cx="2822719" cy="676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vi-VN" dirty="0">
                <a:solidFill>
                  <a:schemeClr val="accent3"/>
                </a:solidFill>
              </a:rPr>
              <a:t>/Tiền xử lý văn bản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400" y="542488"/>
            <a:ext cx="2324547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Doc2Vec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672525" y="1961287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/1 &gt;</a:t>
            </a:r>
            <a:endParaRPr dirty="0"/>
          </a:p>
        </p:txBody>
      </p:sp>
      <p:sp>
        <p:nvSpPr>
          <p:cNvPr id="785" name="Google Shape;785;p37"/>
          <p:cNvSpPr txBox="1">
            <a:spLocks noGrp="1"/>
          </p:cNvSpPr>
          <p:nvPr>
            <p:ph type="body" idx="3"/>
          </p:nvPr>
        </p:nvSpPr>
        <p:spPr>
          <a:xfrm>
            <a:off x="3222174" y="2349400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vi-VN" dirty="0">
                <a:solidFill>
                  <a:schemeClr val="accent3"/>
                </a:solidFill>
              </a:rPr>
              <a:t>/Xây dựng từ vựng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6" name="Google Shape;786;p37"/>
          <p:cNvSpPr txBox="1">
            <a:spLocks noGrp="1"/>
          </p:cNvSpPr>
          <p:nvPr>
            <p:ph type="title" idx="4"/>
          </p:nvPr>
        </p:nvSpPr>
        <p:spPr>
          <a:xfrm flipH="1">
            <a:off x="2007174" y="2494150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/2 &gt;</a:t>
            </a:r>
            <a:endParaRPr dirty="0"/>
          </a:p>
        </p:txBody>
      </p:sp>
      <p:sp>
        <p:nvSpPr>
          <p:cNvPr id="787" name="Google Shape;787;p37"/>
          <p:cNvSpPr txBox="1">
            <a:spLocks noGrp="1"/>
          </p:cNvSpPr>
          <p:nvPr>
            <p:ph type="subTitle" idx="5"/>
          </p:nvPr>
        </p:nvSpPr>
        <p:spPr>
          <a:xfrm>
            <a:off x="1670347" y="1058877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Là một mô hình học máy được sử dụng để nhúng các văn bản thành </a:t>
            </a:r>
            <a:r>
              <a:rPr lang="vi-VN" dirty="0" err="1"/>
              <a:t>vector</a:t>
            </a:r>
            <a:r>
              <a:rPr lang="vi-VN" dirty="0"/>
              <a:t> số</a:t>
            </a:r>
            <a:endParaRPr dirty="0"/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002453"/>
            <a:ext cx="506100" cy="3567572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" name="Google Shape;2501;p47">
            <a:extLst>
              <a:ext uri="{FF2B5EF4-FFF2-40B4-BE49-F238E27FC236}">
                <a16:creationId xmlns:a16="http://schemas.microsoft.com/office/drawing/2014/main" id="{36C2E918-8599-8DE5-6B4E-D2FAB1C845A6}"/>
              </a:ext>
            </a:extLst>
          </p:cNvPr>
          <p:cNvSpPr txBox="1">
            <a:spLocks/>
          </p:cNvSpPr>
          <p:nvPr/>
        </p:nvSpPr>
        <p:spPr>
          <a:xfrm>
            <a:off x="1670347" y="1633744"/>
            <a:ext cx="5391903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vi-VN" sz="1400" dirty="0"/>
              <a:t>Các bước chính trong mô hình Doc2Vec bao gồm:</a:t>
            </a:r>
          </a:p>
        </p:txBody>
      </p:sp>
      <p:sp>
        <p:nvSpPr>
          <p:cNvPr id="8" name="Google Shape;785;p37">
            <a:extLst>
              <a:ext uri="{FF2B5EF4-FFF2-40B4-BE49-F238E27FC236}">
                <a16:creationId xmlns:a16="http://schemas.microsoft.com/office/drawing/2014/main" id="{0D8F0EDD-001E-1731-DFBA-B518A11727A3}"/>
              </a:ext>
            </a:extLst>
          </p:cNvPr>
          <p:cNvSpPr txBox="1">
            <a:spLocks/>
          </p:cNvSpPr>
          <p:nvPr/>
        </p:nvSpPr>
        <p:spPr>
          <a:xfrm>
            <a:off x="3543907" y="2866134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vi-VN" dirty="0">
                <a:solidFill>
                  <a:schemeClr val="accent3"/>
                </a:solidFill>
              </a:rPr>
              <a:t>/Huấn luyện mô hình</a:t>
            </a:r>
          </a:p>
        </p:txBody>
      </p:sp>
      <p:sp>
        <p:nvSpPr>
          <p:cNvPr id="9" name="Google Shape;786;p37">
            <a:extLst>
              <a:ext uri="{FF2B5EF4-FFF2-40B4-BE49-F238E27FC236}">
                <a16:creationId xmlns:a16="http://schemas.microsoft.com/office/drawing/2014/main" id="{1DC110B2-7DFD-5B2F-4EB3-4AFAECC7B05F}"/>
              </a:ext>
            </a:extLst>
          </p:cNvPr>
          <p:cNvSpPr txBox="1">
            <a:spLocks/>
          </p:cNvSpPr>
          <p:nvPr/>
        </p:nvSpPr>
        <p:spPr>
          <a:xfrm flipH="1">
            <a:off x="2328907" y="3010884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&lt; /</a:t>
            </a:r>
            <a:r>
              <a:rPr lang="vi-VN" dirty="0"/>
              <a:t>3</a:t>
            </a:r>
            <a:r>
              <a:rPr lang="en" dirty="0"/>
              <a:t> &gt;</a:t>
            </a:r>
          </a:p>
        </p:txBody>
      </p:sp>
      <p:sp>
        <p:nvSpPr>
          <p:cNvPr id="10" name="Google Shape;785;p37">
            <a:extLst>
              <a:ext uri="{FF2B5EF4-FFF2-40B4-BE49-F238E27FC236}">
                <a16:creationId xmlns:a16="http://schemas.microsoft.com/office/drawing/2014/main" id="{2A4902FA-AC0D-D019-BC24-ED6FFF2E843E}"/>
              </a:ext>
            </a:extLst>
          </p:cNvPr>
          <p:cNvSpPr txBox="1">
            <a:spLocks/>
          </p:cNvSpPr>
          <p:nvPr/>
        </p:nvSpPr>
        <p:spPr>
          <a:xfrm>
            <a:off x="3829674" y="3328434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vi-VN" dirty="0">
                <a:solidFill>
                  <a:schemeClr val="accent3"/>
                </a:solidFill>
              </a:rPr>
              <a:t>/Sử dụng văn bản nhúng</a:t>
            </a:r>
          </a:p>
        </p:txBody>
      </p:sp>
      <p:sp>
        <p:nvSpPr>
          <p:cNvPr id="11" name="Google Shape;786;p37">
            <a:extLst>
              <a:ext uri="{FF2B5EF4-FFF2-40B4-BE49-F238E27FC236}">
                <a16:creationId xmlns:a16="http://schemas.microsoft.com/office/drawing/2014/main" id="{A0BAF2CC-BDAE-EC35-7C4C-1A919F83C22E}"/>
              </a:ext>
            </a:extLst>
          </p:cNvPr>
          <p:cNvSpPr txBox="1">
            <a:spLocks/>
          </p:cNvSpPr>
          <p:nvPr/>
        </p:nvSpPr>
        <p:spPr>
          <a:xfrm flipH="1">
            <a:off x="2614674" y="3473184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&lt; /</a:t>
            </a:r>
            <a:r>
              <a:rPr lang="vi-VN" dirty="0"/>
              <a:t>4</a:t>
            </a:r>
            <a:r>
              <a:rPr lang="en" dirty="0"/>
              <a:t> 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195091" y="1154340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4759777" y="990525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2368875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Doc2Vec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947747" y="1159725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89813-D78C-02EC-819D-E931F46550BF}"/>
              </a:ext>
            </a:extLst>
          </p:cNvPr>
          <p:cNvSpPr txBox="1"/>
          <p:nvPr/>
        </p:nvSpPr>
        <p:spPr>
          <a:xfrm>
            <a:off x="1310259" y="1485071"/>
            <a:ext cx="352350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lấy ra tên lớp và các phương thức có trong đỉnh</a:t>
            </a:r>
            <a:endParaRPr lang="vi-V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cg</a:t>
            </a:r>
            <a:r>
              <a:rPr lang="vi-V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nodes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class_name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.class_name</a:t>
            </a:r>
            <a:endParaRPr lang="vi-V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method_name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.name</a:t>
            </a:r>
          </a:p>
          <a:p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class_method_string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class_name</a:t>
            </a:r>
            <a:r>
              <a:rPr lang="vi-V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method_name</a:t>
            </a:r>
            <a:r>
              <a:rPr lang="vi-V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vi-V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class_method_strings</a:t>
            </a:r>
            <a:r>
              <a:rPr lang="vi-V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class_method_string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tạo </a:t>
            </a:r>
            <a:r>
              <a:rPr lang="vi-VN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vi-V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vi-V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từ danh sách chuỗi</a:t>
            </a:r>
            <a:endParaRPr lang="vi-V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vi-V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class_method_strings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class_and_methods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vi-V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Tạo danh sách các văn bản từ </a:t>
            </a:r>
            <a:r>
              <a:rPr lang="vi-VN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DataFrame</a:t>
            </a:r>
            <a:endParaRPr lang="vi-V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vi-V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TaggedDocument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vi-V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.lower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vi-V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vi-V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 </a:t>
            </a:r>
            <a:r>
              <a:rPr lang="vi-VN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vi-VN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class_and_methods</a:t>
            </a:r>
            <a:r>
              <a:rPr lang="vi-V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vi-V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C996C-23ED-933B-A71C-E3A3D4B774B8}"/>
              </a:ext>
            </a:extLst>
          </p:cNvPr>
          <p:cNvSpPr txBox="1"/>
          <p:nvPr/>
        </p:nvSpPr>
        <p:spPr>
          <a:xfrm>
            <a:off x="4759777" y="1485071"/>
            <a:ext cx="45754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Huấn luyện mô hình Doc2Vec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Doc2Vec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vector_size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min_count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workers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build_vocab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total_examples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corpus_count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Chuyển đổi dữ liệu thành </a:t>
            </a:r>
            <a:r>
              <a:rPr lang="vi-VN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vector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vectors_of_node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infer_vector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word_tokenize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vi-V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.lower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())) </a:t>
            </a:r>
            <a:r>
              <a:rPr lang="vi-VN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vi-V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class_and_methods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b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 ra </a:t>
            </a:r>
            <a:r>
              <a:rPr lang="vi-VN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vi-V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của một số văn bản</a:t>
            </a:r>
            <a:endParaRPr lang="vi-V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vectors_of_node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vi-V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"Vector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của văn bản 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vi-V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vi-V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681551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Doc2vec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551" name="Google Shape;551;p31"/>
          <p:cNvGrpSpPr/>
          <p:nvPr/>
        </p:nvGrpSpPr>
        <p:grpSpPr>
          <a:xfrm>
            <a:off x="1084825" y="3203163"/>
            <a:ext cx="506100" cy="1366863"/>
            <a:chOff x="1084825" y="3203163"/>
            <a:chExt cx="506100" cy="1366863"/>
          </a:xfrm>
        </p:grpSpPr>
        <p:cxnSp>
          <p:nvCxnSpPr>
            <p:cNvPr id="552" name="Google Shape;552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54" name="Google Shape;554;p31"/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6FB4D1B-0EEF-58EA-66BF-A422FE0DA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925" y="1557789"/>
            <a:ext cx="6830705" cy="2271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49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545" name="Google Shape;2545;p49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solidFill>
                  <a:schemeClr val="accent3"/>
                </a:solidFill>
              </a:rPr>
              <a:t>tran03tn</a:t>
            </a:r>
            <a:r>
              <a:rPr lang="en" dirty="0">
                <a:solidFill>
                  <a:schemeClr val="accent3"/>
                </a:solidFill>
              </a:rPr>
              <a:t>@</a:t>
            </a:r>
            <a:r>
              <a:rPr lang="vi-VN" dirty="0" err="1">
                <a:solidFill>
                  <a:schemeClr val="accent3"/>
                </a:solidFill>
              </a:rPr>
              <a:t>gmail</a:t>
            </a:r>
            <a:r>
              <a:rPr lang="en" dirty="0">
                <a:solidFill>
                  <a:schemeClr val="accent3"/>
                </a:solidFill>
              </a:rPr>
              <a:t>.com </a:t>
            </a:r>
            <a:endParaRPr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+</a:t>
            </a:r>
            <a:r>
              <a:rPr lang="vi-VN" dirty="0">
                <a:solidFill>
                  <a:schemeClr val="accent3"/>
                </a:solidFill>
              </a:rPr>
              <a:t>84</a:t>
            </a:r>
            <a:r>
              <a:rPr lang="en" dirty="0">
                <a:solidFill>
                  <a:schemeClr val="accent3"/>
                </a:solidFill>
              </a:rPr>
              <a:t>  </a:t>
            </a:r>
            <a:r>
              <a:rPr lang="vi-VN" dirty="0">
                <a:solidFill>
                  <a:schemeClr val="accent3"/>
                </a:solidFill>
              </a:rPr>
              <a:t>9</a:t>
            </a:r>
            <a:r>
              <a:rPr lang="en" dirty="0">
                <a:solidFill>
                  <a:schemeClr val="accent3"/>
                </a:solidFill>
              </a:rPr>
              <a:t>620 421 838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6" name="Google Shape;2546;p49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‘Do you have any questions?’</a:t>
            </a:r>
            <a:endParaRPr dirty="0"/>
          </a:p>
        </p:txBody>
      </p:sp>
      <p:sp>
        <p:nvSpPr>
          <p:cNvPr id="2547" name="Google Shape;2547;p49"/>
          <p:cNvSpPr txBox="1"/>
          <p:nvPr/>
        </p:nvSpPr>
        <p:spPr>
          <a:xfrm>
            <a:off x="2912425" y="3781775"/>
            <a:ext cx="4418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Please keep this slide for attribution &gt; </a:t>
            </a:r>
            <a:endParaRPr sz="120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2548" name="Google Shape;2548;p49"/>
          <p:cNvGrpSpPr/>
          <p:nvPr/>
        </p:nvGrpSpPr>
        <p:grpSpPr>
          <a:xfrm>
            <a:off x="2584287" y="2579158"/>
            <a:ext cx="375421" cy="353610"/>
            <a:chOff x="4248762" y="2749595"/>
            <a:chExt cx="375421" cy="353610"/>
          </a:xfrm>
        </p:grpSpPr>
        <p:sp>
          <p:nvSpPr>
            <p:cNvPr id="2549" name="Google Shape;2549;p49"/>
            <p:cNvSpPr/>
            <p:nvPr/>
          </p:nvSpPr>
          <p:spPr>
            <a:xfrm>
              <a:off x="4262244" y="2755191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9"/>
            <p:cNvSpPr/>
            <p:nvPr/>
          </p:nvSpPr>
          <p:spPr>
            <a:xfrm>
              <a:off x="4321847" y="2829656"/>
              <a:ext cx="186123" cy="267953"/>
            </a:xfrm>
            <a:custGeom>
              <a:avLst/>
              <a:gdLst/>
              <a:ahLst/>
              <a:cxnLst/>
              <a:rect l="l" t="t" r="r" b="b"/>
              <a:pathLst>
                <a:path w="7151" h="10295" extrusionOk="0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9"/>
            <p:cNvSpPr/>
            <p:nvPr/>
          </p:nvSpPr>
          <p:spPr>
            <a:xfrm>
              <a:off x="4248762" y="2749595"/>
              <a:ext cx="375421" cy="353610"/>
            </a:xfrm>
            <a:custGeom>
              <a:avLst/>
              <a:gdLst/>
              <a:ahLst/>
              <a:cxnLst/>
              <a:rect l="l" t="t" r="r" b="b"/>
              <a:pathLst>
                <a:path w="14424" h="13586" extrusionOk="0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2" name="Google Shape;2552;p49"/>
          <p:cNvGrpSpPr/>
          <p:nvPr/>
        </p:nvGrpSpPr>
        <p:grpSpPr>
          <a:xfrm>
            <a:off x="3654268" y="2579159"/>
            <a:ext cx="372558" cy="353610"/>
            <a:chOff x="5318743" y="2749597"/>
            <a:chExt cx="372558" cy="353610"/>
          </a:xfrm>
        </p:grpSpPr>
        <p:sp>
          <p:nvSpPr>
            <p:cNvPr id="2553" name="Google Shape;2553;p49"/>
            <p:cNvSpPr/>
            <p:nvPr/>
          </p:nvSpPr>
          <p:spPr>
            <a:xfrm>
              <a:off x="5343105" y="2755166"/>
              <a:ext cx="342418" cy="342418"/>
            </a:xfrm>
            <a:custGeom>
              <a:avLst/>
              <a:gdLst/>
              <a:ahLst/>
              <a:cxnLst/>
              <a:rect l="l" t="t" r="r" b="b"/>
              <a:pathLst>
                <a:path w="13156" h="13156" extrusionOk="0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9"/>
            <p:cNvSpPr/>
            <p:nvPr/>
          </p:nvSpPr>
          <p:spPr>
            <a:xfrm>
              <a:off x="5404556" y="2816617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9"/>
            <p:cNvSpPr/>
            <p:nvPr/>
          </p:nvSpPr>
          <p:spPr>
            <a:xfrm>
              <a:off x="5558951" y="2844441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9"/>
            <p:cNvSpPr/>
            <p:nvPr/>
          </p:nvSpPr>
          <p:spPr>
            <a:xfrm>
              <a:off x="5318743" y="2749597"/>
              <a:ext cx="372558" cy="353610"/>
            </a:xfrm>
            <a:custGeom>
              <a:avLst/>
              <a:gdLst/>
              <a:ahLst/>
              <a:cxnLst/>
              <a:rect l="l" t="t" r="r" b="b"/>
              <a:pathLst>
                <a:path w="14314" h="13586" extrusionOk="0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9"/>
            <p:cNvSpPr/>
            <p:nvPr/>
          </p:nvSpPr>
          <p:spPr>
            <a:xfrm>
              <a:off x="5411825" y="2823750"/>
              <a:ext cx="205800" cy="205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9"/>
            <p:cNvSpPr/>
            <p:nvPr/>
          </p:nvSpPr>
          <p:spPr>
            <a:xfrm>
              <a:off x="5404556" y="2816617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9"/>
            <p:cNvSpPr/>
            <p:nvPr/>
          </p:nvSpPr>
          <p:spPr>
            <a:xfrm>
              <a:off x="5451171" y="2868568"/>
              <a:ext cx="127665" cy="115562"/>
            </a:xfrm>
            <a:custGeom>
              <a:avLst/>
              <a:gdLst/>
              <a:ahLst/>
              <a:cxnLst/>
              <a:rect l="l" t="t" r="r" b="b"/>
              <a:pathLst>
                <a:path w="4905" h="4440" extrusionOk="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9"/>
            <p:cNvSpPr/>
            <p:nvPr/>
          </p:nvSpPr>
          <p:spPr>
            <a:xfrm>
              <a:off x="5558951" y="2844441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1" name="Google Shape;2561;p49"/>
          <p:cNvGrpSpPr/>
          <p:nvPr/>
        </p:nvGrpSpPr>
        <p:grpSpPr>
          <a:xfrm>
            <a:off x="3120755" y="2565609"/>
            <a:ext cx="372480" cy="353610"/>
            <a:chOff x="4785230" y="2736047"/>
            <a:chExt cx="372480" cy="353610"/>
          </a:xfrm>
        </p:grpSpPr>
        <p:sp>
          <p:nvSpPr>
            <p:cNvPr id="2562" name="Google Shape;2562;p49"/>
            <p:cNvSpPr/>
            <p:nvPr/>
          </p:nvSpPr>
          <p:spPr>
            <a:xfrm>
              <a:off x="4809513" y="2741616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9"/>
            <p:cNvSpPr/>
            <p:nvPr/>
          </p:nvSpPr>
          <p:spPr>
            <a:xfrm>
              <a:off x="4891006" y="2882738"/>
              <a:ext cx="38026" cy="112387"/>
            </a:xfrm>
            <a:custGeom>
              <a:avLst/>
              <a:gdLst/>
              <a:ahLst/>
              <a:cxnLst/>
              <a:rect l="l" t="t" r="r" b="b"/>
              <a:pathLst>
                <a:path w="1461" h="4318" extrusionOk="0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9"/>
            <p:cNvSpPr/>
            <p:nvPr/>
          </p:nvSpPr>
          <p:spPr>
            <a:xfrm>
              <a:off x="4875988" y="2815639"/>
              <a:ext cx="53044" cy="45522"/>
            </a:xfrm>
            <a:custGeom>
              <a:avLst/>
              <a:gdLst/>
              <a:ahLst/>
              <a:cxnLst/>
              <a:rect l="l" t="t" r="r" b="b"/>
              <a:pathLst>
                <a:path w="2038" h="1749" extrusionOk="0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9"/>
            <p:cNvSpPr/>
            <p:nvPr/>
          </p:nvSpPr>
          <p:spPr>
            <a:xfrm>
              <a:off x="4965470" y="2882633"/>
              <a:ext cx="119805" cy="112491"/>
            </a:xfrm>
            <a:custGeom>
              <a:avLst/>
              <a:gdLst/>
              <a:ahLst/>
              <a:cxnLst/>
              <a:rect l="l" t="t" r="r" b="b"/>
              <a:pathLst>
                <a:path w="4603" h="4322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9"/>
            <p:cNvSpPr/>
            <p:nvPr/>
          </p:nvSpPr>
          <p:spPr>
            <a:xfrm>
              <a:off x="4785230" y="2736047"/>
              <a:ext cx="372480" cy="353610"/>
            </a:xfrm>
            <a:custGeom>
              <a:avLst/>
              <a:gdLst/>
              <a:ahLst/>
              <a:cxnLst/>
              <a:rect l="l" t="t" r="r" b="b"/>
              <a:pathLst>
                <a:path w="14311" h="13586" extrusionOk="0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9"/>
            <p:cNvSpPr/>
            <p:nvPr/>
          </p:nvSpPr>
          <p:spPr>
            <a:xfrm>
              <a:off x="4885774" y="2877506"/>
              <a:ext cx="48489" cy="122850"/>
            </a:xfrm>
            <a:custGeom>
              <a:avLst/>
              <a:gdLst/>
              <a:ahLst/>
              <a:cxnLst/>
              <a:rect l="l" t="t" r="r" b="b"/>
              <a:pathLst>
                <a:path w="1863" h="4720" extrusionOk="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9"/>
            <p:cNvSpPr/>
            <p:nvPr/>
          </p:nvSpPr>
          <p:spPr>
            <a:xfrm>
              <a:off x="4868934" y="2810485"/>
              <a:ext cx="65329" cy="55881"/>
            </a:xfrm>
            <a:custGeom>
              <a:avLst/>
              <a:gdLst/>
              <a:ahLst/>
              <a:cxnLst/>
              <a:rect l="l" t="t" r="r" b="b"/>
              <a:pathLst>
                <a:path w="2510" h="2147" extrusionOk="0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9"/>
            <p:cNvSpPr/>
            <p:nvPr/>
          </p:nvSpPr>
          <p:spPr>
            <a:xfrm>
              <a:off x="4960239" y="2877506"/>
              <a:ext cx="130346" cy="122850"/>
            </a:xfrm>
            <a:custGeom>
              <a:avLst/>
              <a:gdLst/>
              <a:ahLst/>
              <a:cxnLst/>
              <a:rect l="l" t="t" r="r" b="b"/>
              <a:pathLst>
                <a:path w="5008" h="4720" extrusionOk="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0" name="Google Shape;2570;p49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571" name="Google Shape;2571;p49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572" name="Google Shape;2572;p49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2573" name="Google Shape;2573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2574" name="Google Shape;2574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75" name="Google Shape;2575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1082</Words>
  <Application>Microsoft Office PowerPoint</Application>
  <PresentationFormat>On-screen Show (16:9)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Montserrat</vt:lpstr>
      <vt:lpstr>Arial</vt:lpstr>
      <vt:lpstr>Segoe UI</vt:lpstr>
      <vt:lpstr>Fira Code</vt:lpstr>
      <vt:lpstr>Consolas</vt:lpstr>
      <vt:lpstr>Times New Roman</vt:lpstr>
      <vt:lpstr>Programming Language Workshop for Beginners by Slidesgo</vt:lpstr>
      <vt:lpstr>Programming ‘Malware Android detection using machine learning’ {</vt:lpstr>
      <vt:lpstr>PowerPoint Presentation</vt:lpstr>
      <vt:lpstr>PowerPoint Presentation</vt:lpstr>
      <vt:lpstr>Androguard{ </vt:lpstr>
      <vt:lpstr>Androguard{ </vt:lpstr>
      <vt:lpstr>01</vt:lpstr>
      <vt:lpstr>Androguard{ </vt:lpstr>
      <vt:lpstr>01</vt:lpstr>
      <vt:lpstr>01</vt:lpstr>
      <vt:lpstr>Doc2Vec {</vt:lpstr>
      <vt:lpstr>01</vt:lpstr>
      <vt:lpstr>Doc2vec{ </vt:lpstr>
      <vt:lpstr>Thanks;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‘Malware Android detection using machine learning’ {</dc:title>
  <dc:creator>Hải Nam</dc:creator>
  <cp:lastModifiedBy>Hải Nam</cp:lastModifiedBy>
  <cp:revision>3</cp:revision>
  <dcterms:modified xsi:type="dcterms:W3CDTF">2024-04-01T05:25:14Z</dcterms:modified>
</cp:coreProperties>
</file>